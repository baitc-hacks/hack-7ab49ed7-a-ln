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929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9293A"/>
                </a:solidFill>
                <a:latin typeface="Arial"/>
              </a:rPr>
              <a:t>Клиентов в каждой роли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Клиентов</c:v>
                </c:pt>
              </c:strCache>
            </c:strRef>
          </c:tx>
          <c:spPr>
            <a:solidFill>
              <a:srgbClr val="1929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4E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Координатор</c:v>
                  </c:pt>
                  <c:pt idx="1">
                    <c:v>Консолидатор</c:v>
                  </c:pt>
                  <c:pt idx="2">
                    <c:v>Распределитель</c:v>
                  </c:pt>
                  <c:pt idx="3">
                    <c:v>Транзит</c:v>
                  </c:pt>
                  <c:pt idx="4">
                    <c:v>Конечный получатель</c:v>
                  </c:pt>
                  <c:pt idx="5">
                    <c:v>Периферия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85</c:v>
                </c:pt>
                <c:pt idx="2">
                  <c:v>44</c:v>
                </c:pt>
                <c:pt idx="3">
                  <c:v>419</c:v>
                </c:pt>
                <c:pt idx="4">
                  <c:v>978</c:v>
                </c:pt>
                <c:pt idx="5">
                  <c:v>705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D4E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E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929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9293A"/>
                </a:solidFill>
                <a:latin typeface="Arial"/>
              </a:rPr>
              <a:t>Максимальный вклад слагаемого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Максимальный вклад</c:v>
                </c:pt>
              </c:strCache>
            </c:strRef>
          </c:tx>
          <c:spPr>
            <a:solidFill>
              <a:srgbClr val="1929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4E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Роль и уверенность</c:v>
                  </c:pt>
                  <c:pt idx="1">
                    <c:v>Оборот</c:v>
                  </c:pt>
                  <c:pt idx="2">
                    <c:v>Центральность</c:v>
                  </c:pt>
                  <c:pt idx="3">
                    <c:v>Связь с seed</c:v>
                  </c:pt>
                  <c:pt idx="4">
                    <c:v>Сигналы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3D4E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E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929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9293A"/>
                </a:solidFill>
                <a:latin typeface="Arial"/>
              </a:rPr>
              <a:t>Оборот, достижимый от seed после изъятия N клиентов,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Изъяты первые по приоритету</c:v>
                </c:pt>
              </c:strCache>
            </c:strRef>
          </c:tx>
          <c:spPr>
            <a:solidFill>
              <a:srgbClr val="1929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E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86.9</c:v>
                </c:pt>
                <c:pt idx="1">
                  <c:v>83.5</c:v>
                </c:pt>
                <c:pt idx="2">
                  <c:v>66.5</c:v>
                </c:pt>
                <c:pt idx="3">
                  <c:v>26.3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Изъяты случайные клиенты</c:v>
                </c:pt>
              </c:strCache>
            </c:strRef>
          </c:tx>
          <c:spPr>
            <a:solidFill>
              <a:srgbClr val="A0A9B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E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50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99.8</c:v>
                </c:pt>
                <c:pt idx="1">
                  <c:v>99</c:v>
                </c:pt>
                <c:pt idx="2">
                  <c:v>98.3</c:v>
                </c:pt>
                <c:pt idx="3">
                  <c:v>94.8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D4E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D6B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D6B78"/>
                    </a:solidFill>
                    <a:latin typeface="Arial"/>
                  </a:rPr>
                  <a:t>Изъято клиентов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E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E6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Одной фразой: инструмент за 10 секунд превращает выгрузку переводов от 81 известного участника в очередь проверки из 50 клиентов, у каждого — роль и обоснование с числами.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вопрос кейса — «кого из 2 248 клиентов смотреть первым и почему». Всё остальное подчинено 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Организаторы назвали четыре ловушки; пятую — обрыв по времени — мы нашли сами. Все они видны в карточке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шаг — роли: формальные правила с порогами, без обучаемой модели. Поэтому любую роль можно объяснить за минуту.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— из словаря ТЗ; рядом — названия типологий AML. Цвет точки на схеме — это роль.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Веса экспертные: размеченных ответов нет. Поэтому проверили устойчивость — порядок почти не меняется при изменении весов.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сильное доказательство, что приоритет находит несущие узлы: изъятие 50 первых отрезает три четверти оборота, изъятие 50 случайных — почти ничего.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живьём: uv run moneygraph serve, открыть 127.0.0.1:8765. Жюри называет номер — вводим последние цифры, клиент выделяется на схеме.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Кнопки «Откуда пришли деньги» и «Куда ушли деньги» подсвечивают цепочки на 4 шага — так видно, что к этой точке сходятся деньги нескольких известных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Синие связи — деньги входят в кластер, оранжевые — выходят, тёмные — движутся внутри. Кластер находится в 2–4 шагах от известных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Проверили оценку честно: бэктест «колена 1–2 → колено 3» даёт AUC 0,58 — сигнал слабый, поэтому уверенность умеренная и нужен запрос выписки.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вопроса: «Почему этот клиент так высоко в очереди и кого проверить рядом?». Провайдер модели отделён — можно подключить другую.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Жюри называет три номера — для каждого за минуту показываем правило, числа и разложение приоритета.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Бэкенд — пакетный Python-конвейер, фронтенд — один статический HTML с данными внутри. Сервер нужен только для языковой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Следующий шаг для аналитика — data_requests.csv: 380 запросов, что и по кому запросить, чтобы подтвердить или снять гипотезы.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Готовы показать любого клиента, которого назовёт жюри.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amsep1ol/code/hackalem/hack-7ab49ed7-a-ln/docs/presentation/img/hero_network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5989320" y="960120"/>
            <a:ext cx="5760720" cy="40949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денег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697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из 2 248 клиентов проверять первым — и почему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 финансовой структуры по сети внутрибанковских переводов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69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HackAlem AI, кейс «Граф денег»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A-lN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AML-аналитику известен только нижний уровень цепочки — нужно восстановить остальное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Правоохранительные органы передали банку 81 клиента, связанного с незаконным оборотом наркотиков.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собирает их деньги, через кого прогоняет и кто распоряжается — сейчас восстанавливается вручную: часы на один узел.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Нужно: роль и обоснование для каждого клиента, кластеры с гипотезами, приоритет проверки и схема сети.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— гипотезы для проверки, а не утверждение о виновности.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1783080"/>
            <a:ext cx="2395728" cy="1234440"/>
          </a:xfrm>
          <a:prstGeom prst="roundRect">
            <a:avLst>
              <a:gd name="adj" fmla="val 7407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0" y="191109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569464"/>
            <a:ext cx="20299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исходных клиентов (seed) из дела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08008" y="1783080"/>
            <a:ext cx="2395728" cy="1234440"/>
          </a:xfrm>
          <a:prstGeom prst="roundRect">
            <a:avLst>
              <a:gd name="adj" fmla="val 7407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36608" y="191109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2 248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436608" y="2569464"/>
            <a:ext cx="20299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 в графе на 4 колена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3200400"/>
            <a:ext cx="2395728" cy="1234440"/>
          </a:xfrm>
          <a:prstGeom prst="roundRect">
            <a:avLst>
              <a:gd name="adj" fmla="val 7407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32841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3 119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986784"/>
            <a:ext cx="20299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связей, 4 840 переводов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08008" y="3200400"/>
            <a:ext cx="2395728" cy="1234440"/>
          </a:xfrm>
          <a:prstGeom prst="roundRect">
            <a:avLst>
              <a:gd name="adj" fmla="val 7407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36608" y="332841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365,9 млн ₸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436608" y="3986784"/>
            <a:ext cx="20299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 за июль 2026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66344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данные обезличены: только номер клиента, суммы и даты переводов.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что видно, а чего нет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выгрузки учтены в правилах и попадают в обоснование каждого клиента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на 4-м колене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50592"/>
            <a:ext cx="3108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444 клиентов исходящие просто не выгружались. Не называем их «конечными»: роль ставим по похожим клиентам колен 1–3.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06824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35424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Входящие видны частично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450592"/>
            <a:ext cx="3108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Видны только плательщики из выборки — у всех. «Отдал больше, чем получил» — это невидимые входящие, а не аномалия.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 ≠ количество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450592"/>
            <a:ext cx="3108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перевод на 4 млн и сорок по 100 тыс. — разное поведение. Правила учитывают контрагентов, переводы и суммы.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направленный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07992"/>
            <a:ext cx="3108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и метрики — с учётом направления денег. Кластеризация без направления оговорена явно.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06824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35424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по времени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507992"/>
            <a:ext cx="3108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Деньги, пришедшие 30–31 июля, могли уйти в августе — уверенность в роли снижается.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65008" y="3886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93608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5 000 ₸, один банк, июль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4507992"/>
            <a:ext cx="3108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Дробление ниже порога, наличные и другие банки не видны — формируем список запросов данных.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от выгрузки до очереди проверки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команда uv run moneygraph — около 10 секунд на ноутбуке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44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parquet-файла, проверка целостности: переводы сходятся с рёбрами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16352" y="214884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44952" y="2377440"/>
            <a:ext cx="502920" cy="502920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4495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3044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37490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Потоки, контрагенты, время, циклы, маршруты, оценка для 4-го колена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84064" y="214884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2664" y="23774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1266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12664" y="3044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7490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правил с порогами: роль, уверенность и обоснование с числами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214884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0376" y="2377440"/>
            <a:ext cx="502920" cy="502920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03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044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Кластеры и приоритет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580376" y="37490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с гипотезами; приоритет — 5 прозрачных слагаемых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19488" y="214884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48088" y="2377440"/>
            <a:ext cx="502920" cy="502920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4808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044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848088" y="37490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всей сети, карточка клиента, AI-ассистент, CSV по схеме ТЗ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выходе: nodes_roles.csv (2 248 строк), clusters.csv, top_nodes.csv + маршруты, циклы, устойчивость сети и список запросов данных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Роли: формальные правила, а не чёрный ящик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проверяются сверху вниз, срабатывает первое; в карточке видно правило и числа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93392"/>
            <a:ext cx="164592" cy="164592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922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Координатор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9222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 от ≥8 и раздаёт ≥20; или платит ≥3 seed; или мост между группами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724912"/>
            <a:ext cx="164592" cy="164592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52374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Консолидатор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account (воронка)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52374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 разных плательщика или ≥2 seed среди плательщиков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456432"/>
            <a:ext cx="164592" cy="164592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2552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Распределитель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payouts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2552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 получателей, и их втрое больше, чем плательщиков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87952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986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Транзит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pass-through / money mule layering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9867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уходят дальше: ≥50% полученного или ≥80% за 2 дня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919472"/>
            <a:ext cx="164592" cy="164592"/>
          </a:xfrm>
          <a:prstGeom prst="ellipse">
            <a:avLst/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71830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Конечный получатель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7183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ушло ≤10%, сумма от 30 тыс ₸ или ≥2 перевода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650992"/>
            <a:ext cx="164592" cy="164592"/>
          </a:xfrm>
          <a:prstGeom prst="ellipse">
            <a:avLst/>
          </a:prstGeom>
          <a:solidFill>
            <a:srgbClr val="A0A9B1"/>
          </a:solidFill>
          <a:ln w="12700">
            <a:solidFill>
              <a:srgbClr val="A0A9B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54498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Периферия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544982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 роли не выявлено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269480" y="1600200"/>
          <a:ext cx="4389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548640" y="61447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 в роли: 0,5 на пороге правила, 1,0 при многократном превышении. На экране — словами: сильно, умеренно, слабо.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Приоритет: кого смотреть первым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от 0 до 1 — сумма пяти понятных слагаемых; очередь — все клиенты по убыванию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роли: координатор 1,0 — консолидатор 0,9 — распределитель 0,8 — транзит 0,6 — конечный 0,5 — периферия 0,1.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клиенты × 0,9: они уже известны, инструмент ищет новых.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экране: место в очереди и уровень — высокий №1–50, средний №51–200, низкий — остальные.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83680" y="169164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874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№1 в очереди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2402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…8165763100, консолидатор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 × 1,00 × 0,35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65276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0,315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154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больше, чем у ~98% клиентов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65276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0,244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центральность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PageRank, посредничество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65276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0,194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 seed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seed среди плательщиков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652760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0,033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сигналы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 больше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652760" y="4526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0,100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0" y="5029200"/>
            <a:ext cx="4526280" cy="0"/>
          </a:xfrm>
          <a:prstGeom prst="line">
            <a:avLst/>
          </a:prstGeom>
          <a:noFill/>
          <a:ln w="12700">
            <a:solidFill>
              <a:srgbClr val="8C98A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0,89</a:t>
            </a:r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№1 из 2 248, высокий приоритет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669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Устойчивость: изменение любого веса на ±20% сохраняет ≥85% топ-20 (в среднем 93%).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в цифрах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961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из 20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57984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первых в очереди — новые клиенты, не из исходных 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9961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57984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оборота от seed отрезает изъятие топ-50; случайные 50 — лишь 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455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03904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кластера с гипотезой назначения; в 9 — несколько seed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0175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1455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03904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запросов данных: что запросить, по кому и почему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7914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с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449824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пересчёт одной командой, схема ТЗ проверяется сама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46634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47914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5449824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возвратных циклов и 478 устойчивых маршрутов A→B→C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172200" y="1325880"/>
          <a:ext cx="54864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аналитика: вся сеть сразу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HTML-файл, работает без интернета: 2 248 клиентов и 3 119 связей, цвет — роль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7699248" cy="4378833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5" name="Image 0" descr="/home/samsep1ol/code/hackalem/hack-7ab49ed7-a-ln/docs/presentation/img/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589520" cy="42691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709928"/>
            <a:ext cx="384048" cy="384048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79992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проверки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79992" y="21214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в очереди и насколько ярко выражена роль. Наведение подсвечивает клиента на схеме.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49640" y="3081528"/>
            <a:ext cx="384048" cy="384048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79992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сеть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079992" y="34930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точки — приоритет, толщина связи — сумма, кольцо — seed, бледная точка — 4-е колено.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84048" cy="384048"/>
          </a:xfrm>
          <a:prstGeom prst="ellipse">
            <a:avLst/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и AI-ассистент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079992" y="48646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Роль, обоснование, потоки, контрагенты с датами; вопросы на обычном языке.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43625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последним цифрам номера, фильтры по ролям, сумме и топ-N, страницы «Как считается приоритет» и «Как считается уверенность».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1. №1 в очереди — точка сбора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…8165763100, консолидатор (funnel account), роль выражена сильно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288536" y="1682496"/>
            <a:ext cx="7379208" cy="4198811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5" name="Image 0" descr="/home/samsep1ol/code/hackalem/hack-7ab49ed7-a-ln/docs/presentation/img/02_to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37360"/>
            <a:ext cx="7269480" cy="40890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от 15 плательщиков 1,17 млн ₸ за 26 переводов; 4 из них заплатили в один день, 12 июля.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всё уходит дальше: 109% полученного, 54% — в течение 2 дней. Значит, есть поступления вне выборки.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«Откуда пришли деньги»: 79 клиентов за 4 шага, среди них 6 seed.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Синие связи — входящие, оранжевые — исходящие; остальная сеть приглушена.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2. Кластер 8 — скрытый узел раздачи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клиентов, ни одного seed: эту часть сети без инструмента не видно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288536" y="1682496"/>
            <a:ext cx="7379208" cy="4198811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5" name="Image 0" descr="/home/samsep1ol/code/hackalem/hack-7ab49ed7-a-ln/docs/presentation/img/05_cluster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37360"/>
            <a:ext cx="7269480" cy="40890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Хаб …8603629100 собрал 1,82 млн ₸ от 19 плательщиков и раздал 4,99 млн ₸ 61 получателю; всё ушло дальше за 2 дня.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Петля: хаб → …1857829100 → …3880331100 → снова хаб — признак многослойного прогона.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кластер входит 2,98 млн ₸, выходит 5,28 млн ₸, внутри — 14,79 млн ₸.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Гипотеза: точка выплат участникам или обналичивания.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3. 4-е колено — ловушка обрыва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…5075949100 получил 2,23 млн ₸, исходящих в данных нет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288536" y="1682496"/>
            <a:ext cx="7379208" cy="4198811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5" name="Image 0" descr="/home/samsep1ol/code/hackalem/hack-7ab49ed7-a-ln/docs/presentation/img/06_tru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37360"/>
            <a:ext cx="7269480" cy="40890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Наивный вывод «деньги осели» неверен: исходящие 4-го колена просто не выгружались.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Смотрим на похожих клиентов колен 1–3: с таким профилем 57% пересылают деньги дальше.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— вероятный транзит, уверенность слабая, приоритет низкий (№332).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попадает в список запросов: выписка исходящих за июль–август.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AI-ассистент: вопрос словами — ответ по графу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Отвечает только по результатам расчёта, со ссылками на конкретных клиентов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" y="1682496"/>
            <a:ext cx="7379208" cy="4198811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5" name="Image 0" descr="/home/samsep1ol/code/hackalem/hack-7ab49ed7-a-ln/docs/presentation/img/07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269480" cy="40890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178308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модель (OpenAI) вызывает инструменты над результатами расчёта: карточка, контрагенты, топ по ролям, кластер, пути, общие получатели.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утверждение — с номером клиента и числами; формулировки — гипотезы.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Упомянутые клиенты сразу подсвечиваются на схеме.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Пути, источники денег и общие получатели считаются прямо в браузере, без сети.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Объяснимость: каждое число можно разобрать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страницы в приложении; пороги и веса берутся из того же файла настроек, что и расчёт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5458968" cy="3118676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5" name="Image 0" descr="/home/samsep1ol/code/hackalem/hack-7ab49ed7-a-ln/docs/presentation/img/08_priority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349240" cy="3008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63056" y="1728216"/>
            <a:ext cx="5458968" cy="3118676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pic>
        <p:nvPicPr>
          <p:cNvPr id="7" name="Image 1" descr="/home/samsep1ol/code/hackalem/hack-7ab49ed7-a-ln/docs/presentation/img/09_confidence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349240" cy="30089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9834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считается приоритет: вклад пяти слагаемых на живых примерах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49834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считается уверенность: правило для каждой роли и график по консолидаторам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карточке любого клиента — сработавшее правило с числами и ссылки «как считается».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воспроизводимость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Лёгкий проект: нужен только uv — он сам ставит Python 3.12 и пакеты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data/*.parquet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2 248 клиентов, 3 119 связей, 4 840 переводов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Конвейер moneygraph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591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pandas, networkx, igraph. Роли, кластеры, приоритет, проверка схемы ТЗ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out/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3591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CSV по схеме ТЗ, graph.json, viewer.html, доп. выгрузки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55480" y="182880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38360" y="19659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2359152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офлайн, двойной клик по viewer.html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11880"/>
            <a:ext cx="5056632" cy="1097280"/>
          </a:xfrm>
          <a:prstGeom prst="roundRect">
            <a:avLst>
              <a:gd name="adj" fmla="val 833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74904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moneygraph serve (необязательно)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14223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экран + /api/ask: AI-ассистент через OpenAI, ключ хранится только в .env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118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одной командой: ./install.sh (Linux, macOS); инструкция для любой ОС — INSTALL.md.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Детерминированно: повторный прогон с чистой машины даёт те же CSV байт в байт.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автотестов: схема ТЗ, обоснования с числами, 4-е колено, нет захардкоженных номеров.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и что дальше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данных и метода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внутрибанковские переводы от 5 000 ₸ за июль: наличные, другие банки и август не видны.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Входящие видны частично, исходящие обрезаны на 4-м колене; оценка для 4-го колена — слабый сигнал (AUC 0,58).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Пороги и веса экспертные: размеченных ролей нет, качество — в обоснованности, проверена устойчивость.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выводы — гипотезы для проверки аналитиком.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19293A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73952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 до ~1 млн клиентов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1168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 — в DuckDB или Polars: суммы, степени и время считаются колоночными запросами.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Графовые алгоритмы — igraph или graph-tool, приближённое посредничество, Leiden вместо Louvain.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Инкрементальный пересчёт затронутых компонент; пороги в перцентилях.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получает окрестность клиента с сервера; ассистент работает через индексы базы.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19293A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для аналитика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132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data_requests.csv — 380 запросов, чтобы подтвердить или снять гипотезы: выписки исходящих по 4-му колену, входящие из-за пределов выборки, операции за август, наличные по seed без переводов.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237744" cy="237744"/>
          </a:xfrm>
          <a:prstGeom prst="ellipse">
            <a:avLst/>
          </a:prstGeom>
          <a:solidFill>
            <a:srgbClr val="E34948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из 50 клиентов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 ролью, уверенностью и обоснованием с числами; 17 из 20 первых — новые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37744" cy="237744"/>
          </a:xfrm>
          <a:prstGeom prst="ellipse">
            <a:avLst/>
          </a:prstGeom>
          <a:solidFill>
            <a:srgbClr val="EDA100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2432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Ловушки данных учтены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358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4-е колено, неполные входящие, конец периода — прямо в правилах и карточке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237744" cy="23774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64845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Экран, который отвечает на вопросы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05993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сеть, карточка, объяснения и AI-ассистент — в одном файле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237744" cy="237744"/>
          </a:xfrm>
          <a:prstGeom prst="ellipse">
            <a:avLst/>
          </a:prstGeom>
          <a:solidFill>
            <a:srgbClr val="008300"/>
          </a:solidFill>
          <a:ln w="12700">
            <a:solidFill>
              <a:srgbClr val="1929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67258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 за 10 секунд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840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команда, автотесты, одинаковый результат на любой машине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1600200"/>
            <a:ext cx="3822192" cy="3566160"/>
          </a:xfrm>
          <a:prstGeom prst="roundRect">
            <a:avLst>
              <a:gd name="adj" fmla="val 3077"/>
            </a:avLst>
          </a:prstGeom>
          <a:solidFill>
            <a:srgbClr val="22384E"/>
          </a:solidFill>
          <a:ln w="12700">
            <a:solidFill>
              <a:srgbClr val="2238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2402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./install.sh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пересчёт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moneygraph serve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и AI-ассистент на 127.0.0.1:8765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out/viewer.html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без сервера и интернета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— гипотезы для проверки, а не вывод о виновности.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HackAlem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 денег — кого проверять первым</dc:title>
  <dc:subject>PptxGenJS Presentation</dc:subject>
  <dc:creator>Команда A-lN</dc:creator>
  <cp:lastModifiedBy>Команда A-lN</cp:lastModifiedBy>
  <cp:revision>1</cp:revision>
  <dcterms:created xsi:type="dcterms:W3CDTF">2026-09-23T12:45:59Z</dcterms:created>
  <dcterms:modified xsi:type="dcterms:W3CDTF">2026-09-23T12:45:59Z</dcterms:modified>
</cp:coreProperties>
</file>